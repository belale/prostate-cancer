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4"/>
  </p:sldMasterIdLst>
  <p:notesMasterIdLst>
    <p:notesMasterId r:id="rId29"/>
  </p:notesMasterIdLst>
  <p:sldIdLst>
    <p:sldId id="256" r:id="rId5"/>
    <p:sldId id="299" r:id="rId6"/>
    <p:sldId id="298" r:id="rId7"/>
    <p:sldId id="303" r:id="rId8"/>
    <p:sldId id="302" r:id="rId9"/>
    <p:sldId id="271" r:id="rId10"/>
    <p:sldId id="284" r:id="rId11"/>
    <p:sldId id="293" r:id="rId12"/>
    <p:sldId id="292" r:id="rId13"/>
    <p:sldId id="291" r:id="rId14"/>
    <p:sldId id="294" r:id="rId15"/>
    <p:sldId id="276" r:id="rId16"/>
    <p:sldId id="285" r:id="rId17"/>
    <p:sldId id="289" r:id="rId18"/>
    <p:sldId id="265" r:id="rId19"/>
    <p:sldId id="295" r:id="rId20"/>
    <p:sldId id="296" r:id="rId21"/>
    <p:sldId id="283" r:id="rId22"/>
    <p:sldId id="280" r:id="rId23"/>
    <p:sldId id="281" r:id="rId24"/>
    <p:sldId id="300" r:id="rId25"/>
    <p:sldId id="278" r:id="rId26"/>
    <p:sldId id="270" r:id="rId27"/>
    <p:sldId id="27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lal Hussien Elsiesy" initials="BHE" lastIdx="2" clrIdx="0">
    <p:extLst>
      <p:ext uri="{19B8F6BF-5375-455C-9EA6-DF929625EA0E}">
        <p15:presenceInfo xmlns:p15="http://schemas.microsoft.com/office/powerpoint/2012/main" userId="S::belhels2892@students.uplifteducation.org::c77d111f-1962-45d9-926e-d897b4fcca37" providerId="AD"/>
      </p:ext>
    </p:extLst>
  </p:cmAuthor>
  <p:cmAuthor id="2" name="Belal Elsiesy" initials="BE" lastIdx="84" clrIdx="1">
    <p:extLst>
      <p:ext uri="{19B8F6BF-5375-455C-9EA6-DF929625EA0E}">
        <p15:presenceInfo xmlns:p15="http://schemas.microsoft.com/office/powerpoint/2012/main" userId="aef364adffbfe8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1" autoAdjust="0"/>
    <p:restoredTop sz="95833"/>
  </p:normalViewPr>
  <p:slideViewPr>
    <p:cSldViewPr snapToGrid="0">
      <p:cViewPr varScale="1">
        <p:scale>
          <a:sx n="107" d="100"/>
          <a:sy n="107" d="100"/>
        </p:scale>
        <p:origin x="752" y="168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1-07-23T16:44:24.266" idx="13">
    <p:pos x="202" y="202"/>
    <p:text>Compute percentages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1-07-23T16:46:16.840" idx="21">
    <p:pos x="10" y="10"/>
    <p:text>Fill in with quick explanation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1-07-23T16:46:46.317" idx="23">
    <p:pos x="10" y="10"/>
    <p:text>Write out?</p:text>
    <p:extLst>
      <p:ext uri="{C676402C-5697-4E1C-873F-D02D1690AC5C}">
        <p15:threadingInfo xmlns:p15="http://schemas.microsoft.com/office/powerpoint/2012/main" timeZoneBias="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5C770-D759-BE4E-847A-B558FD34B980}" type="datetimeFigureOut">
              <a:rPr lang="en-US" smtClean="0"/>
              <a:t>7/30/21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EF5000-2ED6-3B46-A73D-8439E8AB2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6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F5000-2ED6-3B46-A73D-8439E8AB26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41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F5000-2ED6-3B46-A73D-8439E8AB263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77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Ex: If 80% of patients with ECOG status 1 (Restricted Activity) are high risk, we are 20% uncertain</a:t>
            </a:r>
          </a:p>
          <a:p>
            <a:r>
              <a:rPr lang="en-US" dirty="0"/>
              <a:t>Ex: If 50% of patients with diabetes are high risk, we are 50% uncertain and gain little information from that split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F5000-2ED6-3B46-A73D-8439E8AB263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22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en-US" sz="1200" dirty="0"/>
              <a:t>Ensemble model </a:t>
            </a:r>
            <a:r>
              <a:rPr lang="en-US" sz="1200" dirty="0">
                <a:sym typeface="Wingdings" pitchFamily="2" charset="2"/>
              </a:rPr>
              <a:t> </a:t>
            </a:r>
            <a:r>
              <a:rPr lang="en-US" sz="1200" dirty="0"/>
              <a:t>Prevent overfitting to data, unlike others</a:t>
            </a:r>
          </a:p>
          <a:p>
            <a:pPr lvl="2"/>
            <a:r>
              <a:rPr lang="en-US" sz="1200" dirty="0"/>
              <a:t>Clear predictive features (PSA, TESTO, ALP) + CREAT </a:t>
            </a:r>
            <a:r>
              <a:rPr lang="en-US" sz="1200" dirty="0">
                <a:sym typeface="Wingdings" pitchFamily="2" charset="2"/>
              </a:rPr>
              <a:t> trees split on them (high information gain)</a:t>
            </a:r>
            <a:endParaRPr lang="en-US" sz="1200" dirty="0"/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ANNs work well will large amounts of data, not small amounts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F5000-2ED6-3B46-A73D-8439E8AB263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05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5589-F5CF-4658-B91C-26BD4199339D}" type="datetimeFigureOut">
              <a:rPr lang="en-US" smtClean="0"/>
              <a:t>7/30/21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84136F1D-D404-47A8-96C2-F04EAB3E7720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4925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93F05589-F5CF-4658-B91C-26BD4199339D}" type="datetimeFigureOut">
              <a:rPr lang="en-US" smtClean="0"/>
              <a:t>7/30/21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36F1D-D404-47A8-96C2-F04EAB3E7720}" type="slidenum">
              <a:rPr lang="en-US" smtClean="0"/>
              <a:t>‹#›</a:t>
            </a:fld>
            <a:endParaRPr lang="en-US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353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5589-F5CF-4658-B91C-26BD4199339D}" type="datetimeFigureOut">
              <a:rPr lang="en-US" smtClean="0"/>
              <a:t>7/30/21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36F1D-D404-47A8-96C2-F04EAB3E7720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108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5589-F5CF-4658-B91C-26BD4199339D}" type="datetimeFigureOut">
              <a:rPr lang="en-US" smtClean="0"/>
              <a:t>7/30/21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36F1D-D404-47A8-96C2-F04EAB3E7720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688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5589-F5CF-4658-B91C-26BD4199339D}" type="datetimeFigureOut">
              <a:rPr lang="en-US" smtClean="0"/>
              <a:t>7/30/21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36F1D-D404-47A8-96C2-F04EAB3E772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0160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5589-F5CF-4658-B91C-26BD4199339D}" type="datetimeFigureOut">
              <a:rPr lang="en-US" smtClean="0"/>
              <a:t>7/30/21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36F1D-D404-47A8-96C2-F04EAB3E7720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248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5589-F5CF-4658-B91C-26BD4199339D}" type="datetimeFigureOut">
              <a:rPr lang="en-US" smtClean="0"/>
              <a:t>7/30/21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36F1D-D404-47A8-96C2-F04EAB3E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48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5589-F5CF-4658-B91C-26BD4199339D}" type="datetimeFigureOut">
              <a:rPr lang="en-US" smtClean="0"/>
              <a:t>7/30/21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36F1D-D404-47A8-96C2-F04EAB3E7720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8269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93F05589-F5CF-4658-B91C-26BD4199339D}" type="datetimeFigureOut">
              <a:rPr lang="en-US" smtClean="0"/>
              <a:t>7/30/21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84136F1D-D404-47A8-96C2-F04EAB3E7720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0248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5589-F5CF-4658-B91C-26BD4199339D}" type="datetimeFigureOut">
              <a:rPr lang="en-US" smtClean="0"/>
              <a:t>7/30/21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36F1D-D404-47A8-96C2-F04EAB3E7720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75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5589-F5CF-4658-B91C-26BD4199339D}" type="datetimeFigureOut">
              <a:rPr lang="en-US" smtClean="0"/>
              <a:t>7/30/21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36F1D-D404-47A8-96C2-F04EAB3E7720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6577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05589-F5CF-4658-B91C-26BD4199339D}" type="datetimeFigureOut">
              <a:rPr lang="en-US" smtClean="0"/>
              <a:t>7/30/21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4136F1D-D404-47A8-96C2-F04EAB3E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80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image" Target="../media/image2.emf"/><Relationship Id="rId7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csjournals.onlinelibrary.wiley.com/doi/10.3322/caac.21660" TargetMode="External"/><Relationship Id="rId7" Type="http://schemas.openxmlformats.org/officeDocument/2006/relationships/hyperlink" Target="https://scikit-learn.org/stable/_images/iris.png" TargetMode="External"/><Relationship Id="rId2" Type="http://schemas.openxmlformats.org/officeDocument/2006/relationships/hyperlink" Target="https://doi.org/10.1016/S1470-2045(16)30560-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200/JCO.2013.52.3696" TargetMode="External"/><Relationship Id="rId5" Type="http://schemas.openxmlformats.org/officeDocument/2006/relationships/hyperlink" Target="https://doi.org/10.3747/co.v17i0.718" TargetMode="External"/><Relationship Id="rId4" Type="http://schemas.openxmlformats.org/officeDocument/2006/relationships/hyperlink" Target="https://doi.org/10.3322/caac.2166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A48BE9-E907-46D6-976B-0EB62519A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E5C5FC-22C9-4CDD-93DD-40B86E69E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6A76C3-0FAD-401D-9F4A-FBB2D1D60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7148" y="798912"/>
            <a:ext cx="5861378" cy="241023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Predicting Overall Survival for Patients with Metastatic Castration-Resistant Prostate Cancer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30F94-EBA4-4A08-AB20-343A729D5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0932" y="3789095"/>
            <a:ext cx="5858236" cy="1718171"/>
          </a:xfrm>
        </p:spPr>
        <p:txBody>
          <a:bodyPr>
            <a:normAutofit/>
          </a:bodyPr>
          <a:lstStyle/>
          <a:p>
            <a:r>
              <a:rPr lang="en-US" dirty="0"/>
              <a:t>Belal Elsiesy, Guanghua Xiao, Ph.D.</a:t>
            </a:r>
          </a:p>
          <a:p>
            <a:r>
              <a:rPr lang="en-US" dirty="0"/>
              <a:t>Department of Population and Data Sciences, </a:t>
            </a:r>
          </a:p>
          <a:p>
            <a:r>
              <a:rPr lang="en-US" dirty="0"/>
              <a:t>UT Southwestern Medical Center, Dallas, Texas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322D21-207A-480D-8F27-9EBF64587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0051CB9-9E3A-49A4-A8BA-7610EB2B6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77388" y="482171"/>
            <a:ext cx="4074533" cy="5149101"/>
            <a:chOff x="7477388" y="482171"/>
            <a:chExt cx="4074533" cy="514910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5DA85C-256B-44D8-AFCD-5801E2E7B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77388" y="482171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0FE88AE-695A-4B4F-8AF8-98054FBAB9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47" y="812507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095C5A8-635D-40CC-88D2-2FC79915B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3870" y="977965"/>
            <a:ext cx="3117198" cy="4135339"/>
          </a:xfrm>
          <a:prstGeom prst="rect">
            <a:avLst/>
          </a:prstGeom>
          <a:solidFill>
            <a:srgbClr val="FFFFFE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1AAAF65-C468-4480-AF09-4730604352B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373" y="2328662"/>
            <a:ext cx="2799103" cy="14415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FC75DE-63E2-451C-A1D2-332098A2E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13D973A-76E8-4A70-8614-E5EFF981E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38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28"/>
    </mc:Choice>
    <mc:Fallback xmlns="">
      <p:transition spd="slow" advTm="1192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C13D-8F42-BF42-BB1F-28FE74BE0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642163"/>
          </a:xfrm>
        </p:spPr>
        <p:txBody>
          <a:bodyPr/>
          <a:lstStyle/>
          <a:p>
            <a:r>
              <a:rPr lang="en-US" dirty="0"/>
              <a:t>Introduction – Prostate Cancer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B256C-FF79-6A40-BF07-E4B493276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166" y="1680210"/>
            <a:ext cx="4645152" cy="3779263"/>
          </a:xfrm>
        </p:spPr>
        <p:txBody>
          <a:bodyPr>
            <a:normAutofit/>
          </a:bodyPr>
          <a:lstStyle/>
          <a:p>
            <a:r>
              <a:rPr lang="en-US" sz="1800" dirty="0"/>
              <a:t>Prostate cancer (PCa) – 2</a:t>
            </a:r>
            <a:r>
              <a:rPr lang="en-US" sz="1800" baseline="30000" dirty="0"/>
              <a:t>nd</a:t>
            </a:r>
            <a:r>
              <a:rPr lang="en-US" sz="1800" dirty="0"/>
              <a:t> most common cancer among men </a:t>
            </a:r>
            <a:r>
              <a:rPr lang="en-US" sz="1800" baseline="30000" dirty="0"/>
              <a:t>[2]</a:t>
            </a:r>
          </a:p>
          <a:p>
            <a:pPr lvl="1"/>
            <a:r>
              <a:rPr lang="en-US" sz="1600" dirty="0"/>
              <a:t>14.1% of new cancer cases</a:t>
            </a:r>
          </a:p>
          <a:p>
            <a:pPr lvl="1"/>
            <a:r>
              <a:rPr lang="en-US" sz="1600" dirty="0"/>
              <a:t>6.8% of mortalities</a:t>
            </a:r>
            <a:endParaRPr lang="en-US" sz="1200" dirty="0"/>
          </a:p>
          <a:p>
            <a:r>
              <a:rPr lang="en-US" sz="1800" dirty="0"/>
              <a:t>Castration resistant prostate cancer (CPRC) – advanced stage of PCa </a:t>
            </a:r>
            <a:r>
              <a:rPr lang="en-US" sz="1800" baseline="30000" dirty="0"/>
              <a:t>[3]</a:t>
            </a:r>
          </a:p>
          <a:p>
            <a:pPr lvl="1"/>
            <a:r>
              <a:rPr lang="en-US" sz="1600" dirty="0"/>
              <a:t>Resistant to standard treatments such as androgen-deprivation therapy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441A1-3115-704E-9241-69E4E0A00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606" y="1679600"/>
            <a:ext cx="4645152" cy="3779263"/>
          </a:xfrm>
        </p:spPr>
        <p:txBody>
          <a:bodyPr>
            <a:normAutofit/>
          </a:bodyPr>
          <a:lstStyle/>
          <a:p>
            <a:r>
              <a:rPr lang="en-US" sz="1800" dirty="0"/>
              <a:t>Prognostic factors for CPRC: </a:t>
            </a:r>
          </a:p>
          <a:p>
            <a:pPr lvl="1"/>
            <a:r>
              <a:rPr lang="en-US" sz="1600" dirty="0"/>
              <a:t>Eastern Cooperative Oncology Group(ECOG) patient performance status</a:t>
            </a:r>
          </a:p>
          <a:p>
            <a:pPr lvl="1"/>
            <a:r>
              <a:rPr lang="en-US" sz="1600" dirty="0"/>
              <a:t> bone pain</a:t>
            </a:r>
          </a:p>
          <a:p>
            <a:pPr lvl="1"/>
            <a:r>
              <a:rPr lang="en-US" sz="1600" dirty="0"/>
              <a:t>prostate-specific antigen(PSA) levels</a:t>
            </a:r>
          </a:p>
          <a:p>
            <a:pPr lvl="1"/>
            <a:r>
              <a:rPr lang="en-US" sz="1600" dirty="0"/>
              <a:t>Testosterone levels</a:t>
            </a:r>
          </a:p>
          <a:p>
            <a:pPr lvl="1"/>
            <a:r>
              <a:rPr lang="en-US" sz="1600" dirty="0"/>
              <a:t>alkaline phosphatase(ALP) levels </a:t>
            </a:r>
          </a:p>
        </p:txBody>
      </p:sp>
    </p:spTree>
    <p:extLst>
      <p:ext uri="{BB962C8B-B14F-4D97-AF65-F5344CB8AC3E}">
        <p14:creationId xmlns:p14="http://schemas.microsoft.com/office/powerpoint/2010/main" val="298679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752"/>
    </mc:Choice>
    <mc:Fallback xmlns="">
      <p:transition spd="slow" advTm="3775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D603-2940-4443-96C8-F0623C73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767893"/>
          </a:xfrm>
        </p:spPr>
        <p:txBody>
          <a:bodyPr/>
          <a:lstStyle/>
          <a:p>
            <a:r>
              <a:rPr lang="en-US" dirty="0"/>
              <a:t>Introduction -  Predictive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E6C3-3BDC-454E-98A6-066835307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166" y="1725930"/>
            <a:ext cx="4645152" cy="3733543"/>
          </a:xfrm>
        </p:spPr>
        <p:txBody>
          <a:bodyPr/>
          <a:lstStyle/>
          <a:p>
            <a:pPr marL="285750" indent="-285750"/>
            <a:r>
              <a:rPr lang="en-US" sz="1800" dirty="0"/>
              <a:t>2014 model </a:t>
            </a:r>
            <a:r>
              <a:rPr lang="en-US" sz="1800" baseline="30000" dirty="0"/>
              <a:t>[4] </a:t>
            </a:r>
            <a:r>
              <a:rPr lang="en-US" sz="1800" dirty="0"/>
              <a:t>: confirmed known predictive factors and added:</a:t>
            </a:r>
          </a:p>
          <a:p>
            <a:pPr marL="742950" lvl="1" indent="-285750"/>
            <a:r>
              <a:rPr lang="en-US" dirty="0"/>
              <a:t>Disease site</a:t>
            </a:r>
          </a:p>
          <a:p>
            <a:pPr marL="742950" lvl="1" indent="-285750"/>
            <a:r>
              <a:rPr lang="en-US" dirty="0"/>
              <a:t>Lactate dehydrogenase (LDH)</a:t>
            </a:r>
          </a:p>
          <a:p>
            <a:pPr marL="742950" lvl="1" indent="-285750"/>
            <a:r>
              <a:rPr lang="en-US" dirty="0"/>
              <a:t>Opioid analgesic use</a:t>
            </a:r>
          </a:p>
          <a:p>
            <a:pPr marL="742950" lvl="1" indent="-285750"/>
            <a:r>
              <a:rPr lang="en-US" dirty="0"/>
              <a:t>Albumin (ALB)</a:t>
            </a:r>
          </a:p>
          <a:p>
            <a:pPr marL="742950" lvl="1" indent="-285750"/>
            <a:r>
              <a:rPr lang="en-US" dirty="0"/>
              <a:t>Hemoglobin(HB)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BDFA1-7B61-5C42-94B1-0D7FF75D8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606" y="1725320"/>
            <a:ext cx="4645152" cy="3733543"/>
          </a:xfrm>
        </p:spPr>
        <p:txBody>
          <a:bodyPr/>
          <a:lstStyle/>
          <a:p>
            <a:pPr marL="285750" indent="-285750"/>
            <a:r>
              <a:rPr lang="en-US" sz="1800" dirty="0"/>
              <a:t>My model</a:t>
            </a:r>
          </a:p>
          <a:p>
            <a:pPr marL="742950" lvl="1" indent="-285750"/>
            <a:r>
              <a:rPr lang="en-US" dirty="0"/>
              <a:t>Goal 1: identify prognostic factors in data (new and known)</a:t>
            </a:r>
          </a:p>
          <a:p>
            <a:pPr marL="742950" lvl="1" indent="-285750"/>
            <a:r>
              <a:rPr lang="en-US" dirty="0"/>
              <a:t>Goal 2:  accurately predict patient risk</a:t>
            </a:r>
          </a:p>
        </p:txBody>
      </p:sp>
    </p:spTree>
    <p:extLst>
      <p:ext uri="{BB962C8B-B14F-4D97-AF65-F5344CB8AC3E}">
        <p14:creationId xmlns:p14="http://schemas.microsoft.com/office/powerpoint/2010/main" val="238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309"/>
    </mc:Choice>
    <mc:Fallback xmlns="">
      <p:transition spd="slow" advTm="3430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4500-B060-DE4B-9DC1-0C01A4A4D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4DB8E-FFA8-3C4A-877B-C8E29872A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166" y="1588770"/>
            <a:ext cx="4645152" cy="3870703"/>
          </a:xfrm>
        </p:spPr>
        <p:txBody>
          <a:bodyPr>
            <a:noAutofit/>
          </a:bodyPr>
          <a:lstStyle/>
          <a:p>
            <a:pPr fontAlgn="base"/>
            <a:r>
              <a:rPr lang="en-US" sz="1800" b="1" dirty="0"/>
              <a:t>Data Source</a:t>
            </a:r>
            <a:r>
              <a:rPr lang="en-US" sz="1800" dirty="0"/>
              <a:t>: </a:t>
            </a:r>
          </a:p>
          <a:p>
            <a:pPr lvl="1" fontAlgn="base"/>
            <a:r>
              <a:rPr lang="en-US" sz="1400" dirty="0"/>
              <a:t>phase 3 clinical trial data</a:t>
            </a:r>
          </a:p>
          <a:p>
            <a:pPr lvl="1" fontAlgn="base"/>
            <a:r>
              <a:rPr lang="en-US" sz="1400" dirty="0"/>
              <a:t>101 features</a:t>
            </a:r>
          </a:p>
          <a:p>
            <a:pPr lvl="1" fontAlgn="base"/>
            <a:r>
              <a:rPr lang="en-US" sz="1400" dirty="0"/>
              <a:t>released to the public by Project </a:t>
            </a:r>
            <a:r>
              <a:rPr lang="en-US" sz="1400"/>
              <a:t>Data Sphere</a:t>
            </a:r>
            <a:endParaRPr lang="en-US" sz="1400" dirty="0"/>
          </a:p>
          <a:p>
            <a:pPr fontAlgn="base"/>
            <a:r>
              <a:rPr lang="en-US" sz="1800" b="1" dirty="0"/>
              <a:t>Calculating Risk: </a:t>
            </a:r>
          </a:p>
          <a:p>
            <a:pPr lvl="1" fontAlgn="base"/>
            <a:r>
              <a:rPr lang="en-US" sz="1400" dirty="0"/>
              <a:t>Low Risk: survived &gt;2years</a:t>
            </a:r>
          </a:p>
          <a:p>
            <a:pPr lvl="1" fontAlgn="base"/>
            <a:r>
              <a:rPr lang="en-US" sz="1400" dirty="0"/>
              <a:t>High Risk: died in &lt;1year</a:t>
            </a:r>
          </a:p>
          <a:p>
            <a:pPr lvl="1" fontAlgn="base"/>
            <a:r>
              <a:rPr lang="en-US" sz="1400" dirty="0"/>
              <a:t>Other patients: dropped from dataset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0F9A5-5ADB-2246-B3DC-02CAD1B88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992816"/>
            <a:ext cx="5200357" cy="3870703"/>
          </a:xfrm>
        </p:spPr>
        <p:txBody>
          <a:bodyPr>
            <a:noAutofit/>
          </a:bodyPr>
          <a:lstStyle/>
          <a:p>
            <a:pPr fontAlgn="base">
              <a:lnSpc>
                <a:spcPct val="150000"/>
              </a:lnSpc>
            </a:pPr>
            <a:r>
              <a:rPr lang="en-US" sz="1800" b="1" dirty="0"/>
              <a:t>Univariate Analysis for Binary Variables</a:t>
            </a:r>
            <a:r>
              <a:rPr lang="en-US" sz="1800" dirty="0"/>
              <a:t>: </a:t>
            </a:r>
          </a:p>
          <a:p>
            <a:pPr lvl="1" fontAlgn="base">
              <a:lnSpc>
                <a:spcPct val="150000"/>
              </a:lnSpc>
            </a:pPr>
            <a:r>
              <a:rPr lang="en-US" sz="1400" dirty="0"/>
              <a:t>Contingency tables</a:t>
            </a:r>
          </a:p>
          <a:p>
            <a:pPr lvl="1" fontAlgn="base">
              <a:lnSpc>
                <a:spcPct val="150000"/>
              </a:lnSpc>
            </a:pPr>
            <a:r>
              <a:rPr lang="en-US" sz="1400" dirty="0"/>
              <a:t>Chi-squared test</a:t>
            </a:r>
          </a:p>
          <a:p>
            <a:pPr lvl="1" fontAlgn="base">
              <a:lnSpc>
                <a:spcPct val="150000"/>
              </a:lnSpc>
            </a:pPr>
            <a:r>
              <a:rPr lang="en-US" sz="1400" dirty="0"/>
              <a:t>Fisher’s exact test</a:t>
            </a:r>
          </a:p>
          <a:p>
            <a:pPr lvl="1" fontAlgn="base">
              <a:lnSpc>
                <a:spcPct val="150000"/>
              </a:lnSpc>
            </a:pPr>
            <a:r>
              <a:rPr lang="en-US" sz="1400" dirty="0"/>
              <a:t>Filter by p &lt; ~0.05/101 (Bonferroni Correction)</a:t>
            </a:r>
            <a:endParaRPr lang="en-US" sz="1600" dirty="0"/>
          </a:p>
          <a:p>
            <a:pPr fontAlgn="base">
              <a:lnSpc>
                <a:spcPct val="150000"/>
              </a:lnSpc>
            </a:pPr>
            <a:r>
              <a:rPr lang="en-US" sz="1800" b="1" dirty="0"/>
              <a:t>Univariate Analysis for Continuous Variables</a:t>
            </a:r>
            <a:r>
              <a:rPr lang="en-US" sz="1800" dirty="0"/>
              <a:t>: </a:t>
            </a:r>
          </a:p>
          <a:p>
            <a:pPr lvl="1" fontAlgn="base">
              <a:lnSpc>
                <a:spcPct val="150000"/>
              </a:lnSpc>
            </a:pPr>
            <a:r>
              <a:rPr lang="en-US" sz="1400" dirty="0"/>
              <a:t>Box plots</a:t>
            </a:r>
          </a:p>
          <a:p>
            <a:pPr lvl="1" fontAlgn="base">
              <a:lnSpc>
                <a:spcPct val="150000"/>
              </a:lnSpc>
            </a:pPr>
            <a:r>
              <a:rPr lang="en-US" sz="1400" dirty="0"/>
              <a:t>T-tests </a:t>
            </a:r>
          </a:p>
          <a:p>
            <a:pPr lvl="1" fontAlgn="base">
              <a:lnSpc>
                <a:spcPct val="150000"/>
              </a:lnSpc>
            </a:pPr>
            <a:r>
              <a:rPr lang="en-US" sz="1400" dirty="0"/>
              <a:t>Filter by p &lt; ~0.05/101 (Bonferroni Correction)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6494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243"/>
    </mc:Choice>
    <mc:Fallback xmlns="">
      <p:transition spd="slow" advTm="4924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BFB40-DF73-CB47-A0FF-F86BFA82A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C4F91-D5F3-AA41-A1EC-5664BB38B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166" y="1520190"/>
            <a:ext cx="4645152" cy="3939283"/>
          </a:xfrm>
        </p:spPr>
        <p:txBody>
          <a:bodyPr>
            <a:normAutofit/>
          </a:bodyPr>
          <a:lstStyle/>
          <a:p>
            <a:pPr fontAlgn="base"/>
            <a:r>
              <a:rPr lang="en-US" sz="1800" b="1" dirty="0"/>
              <a:t>10-fold cross validation on training set</a:t>
            </a:r>
          </a:p>
          <a:p>
            <a:pPr fontAlgn="base"/>
            <a:r>
              <a:rPr lang="en-US" sz="1800" b="1" dirty="0"/>
              <a:t>Machine Learning Predictive Models</a:t>
            </a:r>
            <a:r>
              <a:rPr lang="en-US" sz="1800" dirty="0"/>
              <a:t>: </a:t>
            </a:r>
          </a:p>
          <a:p>
            <a:pPr lvl="1" fontAlgn="base"/>
            <a:r>
              <a:rPr lang="en-US" sz="1400" dirty="0"/>
              <a:t>Support Vector Machine </a:t>
            </a:r>
          </a:p>
          <a:p>
            <a:pPr lvl="1" fontAlgn="base"/>
            <a:r>
              <a:rPr lang="en-US" sz="1400" dirty="0"/>
              <a:t>Logistic Regression</a:t>
            </a:r>
          </a:p>
          <a:p>
            <a:pPr lvl="1" fontAlgn="base"/>
            <a:r>
              <a:rPr lang="en-US" sz="1400" dirty="0"/>
              <a:t>Random Forest</a:t>
            </a:r>
          </a:p>
          <a:p>
            <a:pPr lvl="1" fontAlgn="base"/>
            <a:r>
              <a:rPr lang="en-US" sz="1400" dirty="0"/>
              <a:t>Artificial Neural Network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8DB14-8A79-FE4B-8942-ED359353C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606" y="1519580"/>
            <a:ext cx="4645152" cy="3939283"/>
          </a:xfrm>
        </p:spPr>
        <p:txBody>
          <a:bodyPr>
            <a:normAutofit/>
          </a:bodyPr>
          <a:lstStyle/>
          <a:p>
            <a:pPr fontAlgn="base">
              <a:lnSpc>
                <a:spcPct val="150000"/>
              </a:lnSpc>
            </a:pPr>
            <a:r>
              <a:rPr lang="en-US" sz="1800" b="1" dirty="0"/>
              <a:t>Survival Analysis</a:t>
            </a:r>
            <a:r>
              <a:rPr lang="en-US" sz="1800" dirty="0"/>
              <a:t>: </a:t>
            </a:r>
          </a:p>
          <a:p>
            <a:pPr lvl="1" fontAlgn="base">
              <a:lnSpc>
                <a:spcPct val="150000"/>
              </a:lnSpc>
            </a:pPr>
            <a:r>
              <a:rPr lang="en-US" sz="1400" dirty="0"/>
              <a:t>Choose best model</a:t>
            </a:r>
          </a:p>
          <a:p>
            <a:pPr lvl="1" fontAlgn="base">
              <a:lnSpc>
                <a:spcPct val="150000"/>
              </a:lnSpc>
            </a:pPr>
            <a:r>
              <a:rPr lang="en-US" sz="1400" dirty="0"/>
              <a:t>Predict risk group for independent testing set</a:t>
            </a:r>
          </a:p>
          <a:p>
            <a:pPr lvl="1" fontAlgn="base">
              <a:lnSpc>
                <a:spcPct val="150000"/>
              </a:lnSpc>
            </a:pPr>
            <a:r>
              <a:rPr lang="en-US" sz="1400" dirty="0"/>
              <a:t>Kaplan Meier curves</a:t>
            </a:r>
          </a:p>
          <a:p>
            <a:pPr lvl="1" fontAlgn="base">
              <a:lnSpc>
                <a:spcPct val="150000"/>
              </a:lnSpc>
            </a:pPr>
            <a:r>
              <a:rPr lang="en-US" sz="1400" dirty="0"/>
              <a:t>Log-rank test </a:t>
            </a:r>
          </a:p>
          <a:p>
            <a:pPr lvl="1" fontAlgn="base">
              <a:lnSpc>
                <a:spcPct val="150000"/>
              </a:lnSpc>
            </a:pPr>
            <a:r>
              <a:rPr lang="en-US" sz="1400" dirty="0"/>
              <a:t>Variable importance plot</a:t>
            </a:r>
          </a:p>
          <a:p>
            <a:pPr fontAlgn="base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5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576"/>
    </mc:Choice>
    <mc:Fallback xmlns="">
      <p:transition spd="slow" advTm="2657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43538-B405-5C42-AD20-DE3E8E91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21638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3"/>
    </mc:Choice>
    <mc:Fallback xmlns="">
      <p:transition spd="slow" advTm="64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058FEFCE-C781-DF45-8A94-D842612FEE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3451867"/>
              </p:ext>
            </p:extLst>
          </p:nvPr>
        </p:nvGraphicFramePr>
        <p:xfrm>
          <a:off x="1129614" y="1212439"/>
          <a:ext cx="9083463" cy="4771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605">
                  <a:extLst>
                    <a:ext uri="{9D8B030D-6E8A-4147-A177-3AD203B41FA5}">
                      <a16:colId xmlns:a16="http://schemas.microsoft.com/office/drawing/2014/main" val="1108151912"/>
                    </a:ext>
                  </a:extLst>
                </a:gridCol>
                <a:gridCol w="3200929">
                  <a:extLst>
                    <a:ext uri="{9D8B030D-6E8A-4147-A177-3AD203B41FA5}">
                      <a16:colId xmlns:a16="http://schemas.microsoft.com/office/drawing/2014/main" val="10611112"/>
                    </a:ext>
                  </a:extLst>
                </a:gridCol>
                <a:gridCol w="3200929">
                  <a:extLst>
                    <a:ext uri="{9D8B030D-6E8A-4147-A177-3AD203B41FA5}">
                      <a16:colId xmlns:a16="http://schemas.microsoft.com/office/drawing/2014/main" val="1167637433"/>
                    </a:ext>
                  </a:extLst>
                </a:gridCol>
              </a:tblGrid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613631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# of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13314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Mean Survival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3681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224297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18-64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252413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65-74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18683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75+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737068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ECOG Status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185318"/>
                  </a:ext>
                </a:extLst>
              </a:tr>
              <a:tr h="382279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Fully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141111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Restricted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08005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08918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0358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64750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2CE8F38-14CC-F94C-A653-C4A154ED0BCD}"/>
              </a:ext>
            </a:extLst>
          </p:cNvPr>
          <p:cNvSpPr txBox="1">
            <a:spLocks/>
          </p:cNvSpPr>
          <p:nvPr/>
        </p:nvSpPr>
        <p:spPr>
          <a:xfrm>
            <a:off x="1129614" y="521706"/>
            <a:ext cx="9603275" cy="10492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Dataset General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56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08"/>
    </mc:Choice>
    <mc:Fallback xmlns="">
      <p:transition spd="slow" advTm="360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058FEFCE-C781-DF45-8A94-D842612FEE3D}"/>
              </a:ext>
            </a:extLst>
          </p:cNvPr>
          <p:cNvGraphicFramePr>
            <a:graphicFrameLocks/>
          </p:cNvGraphicFramePr>
          <p:nvPr/>
        </p:nvGraphicFramePr>
        <p:xfrm>
          <a:off x="1129614" y="1212439"/>
          <a:ext cx="9083463" cy="4771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605">
                  <a:extLst>
                    <a:ext uri="{9D8B030D-6E8A-4147-A177-3AD203B41FA5}">
                      <a16:colId xmlns:a16="http://schemas.microsoft.com/office/drawing/2014/main" val="1108151912"/>
                    </a:ext>
                  </a:extLst>
                </a:gridCol>
                <a:gridCol w="3200929">
                  <a:extLst>
                    <a:ext uri="{9D8B030D-6E8A-4147-A177-3AD203B41FA5}">
                      <a16:colId xmlns:a16="http://schemas.microsoft.com/office/drawing/2014/main" val="10611112"/>
                    </a:ext>
                  </a:extLst>
                </a:gridCol>
                <a:gridCol w="3200929">
                  <a:extLst>
                    <a:ext uri="{9D8B030D-6E8A-4147-A177-3AD203B41FA5}">
                      <a16:colId xmlns:a16="http://schemas.microsoft.com/office/drawing/2014/main" val="1167637433"/>
                    </a:ext>
                  </a:extLst>
                </a:gridCol>
              </a:tblGrid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613631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# of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13314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Mean Survival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3681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224297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18-64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252413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65-74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18683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75+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737068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ECOG Status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185318"/>
                  </a:ext>
                </a:extLst>
              </a:tr>
              <a:tr h="382279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Fully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141111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Restricted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08005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08918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0358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64750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2CE8F38-14CC-F94C-A653-C4A154ED0BCD}"/>
              </a:ext>
            </a:extLst>
          </p:cNvPr>
          <p:cNvSpPr txBox="1">
            <a:spLocks/>
          </p:cNvSpPr>
          <p:nvPr/>
        </p:nvSpPr>
        <p:spPr>
          <a:xfrm>
            <a:off x="1129614" y="521706"/>
            <a:ext cx="9603275" cy="10492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Dataset General Information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233CA-DD8A-CD40-99E1-A8AA7A5741F4}"/>
              </a:ext>
            </a:extLst>
          </p:cNvPr>
          <p:cNvSpPr/>
          <p:nvPr/>
        </p:nvSpPr>
        <p:spPr>
          <a:xfrm>
            <a:off x="971550" y="1463040"/>
            <a:ext cx="9555480" cy="5715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2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3"/>
    </mc:Choice>
    <mc:Fallback xmlns="">
      <p:transition spd="slow" advTm="389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058FEFCE-C781-DF45-8A94-D842612FEE3D}"/>
              </a:ext>
            </a:extLst>
          </p:cNvPr>
          <p:cNvGraphicFramePr>
            <a:graphicFrameLocks/>
          </p:cNvGraphicFramePr>
          <p:nvPr/>
        </p:nvGraphicFramePr>
        <p:xfrm>
          <a:off x="1129614" y="1212439"/>
          <a:ext cx="9083463" cy="4771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605">
                  <a:extLst>
                    <a:ext uri="{9D8B030D-6E8A-4147-A177-3AD203B41FA5}">
                      <a16:colId xmlns:a16="http://schemas.microsoft.com/office/drawing/2014/main" val="1108151912"/>
                    </a:ext>
                  </a:extLst>
                </a:gridCol>
                <a:gridCol w="3200929">
                  <a:extLst>
                    <a:ext uri="{9D8B030D-6E8A-4147-A177-3AD203B41FA5}">
                      <a16:colId xmlns:a16="http://schemas.microsoft.com/office/drawing/2014/main" val="10611112"/>
                    </a:ext>
                  </a:extLst>
                </a:gridCol>
                <a:gridCol w="3200929">
                  <a:extLst>
                    <a:ext uri="{9D8B030D-6E8A-4147-A177-3AD203B41FA5}">
                      <a16:colId xmlns:a16="http://schemas.microsoft.com/office/drawing/2014/main" val="1167637433"/>
                    </a:ext>
                  </a:extLst>
                </a:gridCol>
              </a:tblGrid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613631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# of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13314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Mean Survival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3681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224297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18-64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252413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65-74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18683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75+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737068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ECOG Status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185318"/>
                  </a:ext>
                </a:extLst>
              </a:tr>
              <a:tr h="382279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Fully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141111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Restricted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08005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08918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0358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64750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2CE8F38-14CC-F94C-A653-C4A154ED0BCD}"/>
              </a:ext>
            </a:extLst>
          </p:cNvPr>
          <p:cNvSpPr txBox="1">
            <a:spLocks/>
          </p:cNvSpPr>
          <p:nvPr/>
        </p:nvSpPr>
        <p:spPr>
          <a:xfrm>
            <a:off x="1129614" y="521706"/>
            <a:ext cx="9603275" cy="10492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Dataset General Information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233CA-DD8A-CD40-99E1-A8AA7A5741F4}"/>
              </a:ext>
            </a:extLst>
          </p:cNvPr>
          <p:cNvSpPr/>
          <p:nvPr/>
        </p:nvSpPr>
        <p:spPr>
          <a:xfrm>
            <a:off x="1013754" y="2261673"/>
            <a:ext cx="9555480" cy="264795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6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27"/>
    </mc:Choice>
    <mc:Fallback xmlns="">
      <p:transition spd="slow" advTm="622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058FEFCE-C781-DF45-8A94-D842612FEE3D}"/>
              </a:ext>
            </a:extLst>
          </p:cNvPr>
          <p:cNvGraphicFramePr>
            <a:graphicFrameLocks/>
          </p:cNvGraphicFramePr>
          <p:nvPr/>
        </p:nvGraphicFramePr>
        <p:xfrm>
          <a:off x="1129614" y="1212439"/>
          <a:ext cx="9083463" cy="4771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605">
                  <a:extLst>
                    <a:ext uri="{9D8B030D-6E8A-4147-A177-3AD203B41FA5}">
                      <a16:colId xmlns:a16="http://schemas.microsoft.com/office/drawing/2014/main" val="1108151912"/>
                    </a:ext>
                  </a:extLst>
                </a:gridCol>
                <a:gridCol w="3200929">
                  <a:extLst>
                    <a:ext uri="{9D8B030D-6E8A-4147-A177-3AD203B41FA5}">
                      <a16:colId xmlns:a16="http://schemas.microsoft.com/office/drawing/2014/main" val="10611112"/>
                    </a:ext>
                  </a:extLst>
                </a:gridCol>
                <a:gridCol w="3200929">
                  <a:extLst>
                    <a:ext uri="{9D8B030D-6E8A-4147-A177-3AD203B41FA5}">
                      <a16:colId xmlns:a16="http://schemas.microsoft.com/office/drawing/2014/main" val="1167637433"/>
                    </a:ext>
                  </a:extLst>
                </a:gridCol>
              </a:tblGrid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613631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# of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13314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Mean Survival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3681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224297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18-64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252413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65-74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18683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75+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737068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ECOG Status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185318"/>
                  </a:ext>
                </a:extLst>
              </a:tr>
              <a:tr h="382279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Fully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141111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Restricted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08005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08918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0358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64750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2CE8F38-14CC-F94C-A653-C4A154ED0BCD}"/>
              </a:ext>
            </a:extLst>
          </p:cNvPr>
          <p:cNvSpPr txBox="1">
            <a:spLocks/>
          </p:cNvSpPr>
          <p:nvPr/>
        </p:nvSpPr>
        <p:spPr>
          <a:xfrm>
            <a:off x="1129614" y="521706"/>
            <a:ext cx="9603275" cy="10492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Dataset General Information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233CA-DD8A-CD40-99E1-A8AA7A5741F4}"/>
              </a:ext>
            </a:extLst>
          </p:cNvPr>
          <p:cNvSpPr/>
          <p:nvPr/>
        </p:nvSpPr>
        <p:spPr>
          <a:xfrm>
            <a:off x="893605" y="1828800"/>
            <a:ext cx="9555480" cy="5715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1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70"/>
    </mc:Choice>
    <mc:Fallback xmlns="">
      <p:transition spd="slow" advTm="277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058FEFCE-C781-DF45-8A94-D842612FEE3D}"/>
              </a:ext>
            </a:extLst>
          </p:cNvPr>
          <p:cNvGraphicFramePr>
            <a:graphicFrameLocks/>
          </p:cNvGraphicFramePr>
          <p:nvPr/>
        </p:nvGraphicFramePr>
        <p:xfrm>
          <a:off x="1129614" y="1212439"/>
          <a:ext cx="9083463" cy="4771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605">
                  <a:extLst>
                    <a:ext uri="{9D8B030D-6E8A-4147-A177-3AD203B41FA5}">
                      <a16:colId xmlns:a16="http://schemas.microsoft.com/office/drawing/2014/main" val="1108151912"/>
                    </a:ext>
                  </a:extLst>
                </a:gridCol>
                <a:gridCol w="3200929">
                  <a:extLst>
                    <a:ext uri="{9D8B030D-6E8A-4147-A177-3AD203B41FA5}">
                      <a16:colId xmlns:a16="http://schemas.microsoft.com/office/drawing/2014/main" val="10611112"/>
                    </a:ext>
                  </a:extLst>
                </a:gridCol>
                <a:gridCol w="3200929">
                  <a:extLst>
                    <a:ext uri="{9D8B030D-6E8A-4147-A177-3AD203B41FA5}">
                      <a16:colId xmlns:a16="http://schemas.microsoft.com/office/drawing/2014/main" val="1167637433"/>
                    </a:ext>
                  </a:extLst>
                </a:gridCol>
              </a:tblGrid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613631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# of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13314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Mean Survival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3681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224297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18-64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252413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65-74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18683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75+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737068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ECOG Status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185318"/>
                  </a:ext>
                </a:extLst>
              </a:tr>
              <a:tr h="382279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Fully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141111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Restricted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08005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089185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0358"/>
                  </a:ext>
                </a:extLst>
              </a:tr>
              <a:tr h="314558">
                <a:tc>
                  <a:txBody>
                    <a:bodyPr/>
                    <a:lstStyle/>
                    <a:p>
                      <a:pPr lvl="1"/>
                      <a:r>
                        <a:rPr lang="en-US" dirty="0"/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64750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2CE8F38-14CC-F94C-A653-C4A154ED0BCD}"/>
              </a:ext>
            </a:extLst>
          </p:cNvPr>
          <p:cNvSpPr txBox="1">
            <a:spLocks/>
          </p:cNvSpPr>
          <p:nvPr/>
        </p:nvSpPr>
        <p:spPr>
          <a:xfrm>
            <a:off x="1129614" y="521706"/>
            <a:ext cx="9603275" cy="10492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Dataset General Information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233CA-DD8A-CD40-99E1-A8AA7A5741F4}"/>
              </a:ext>
            </a:extLst>
          </p:cNvPr>
          <p:cNvSpPr/>
          <p:nvPr/>
        </p:nvSpPr>
        <p:spPr>
          <a:xfrm>
            <a:off x="893605" y="4783016"/>
            <a:ext cx="9555480" cy="132236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8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60"/>
    </mc:Choice>
    <mc:Fallback xmlns="">
      <p:transition spd="slow" advTm="596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33">
            <a:extLst>
              <a:ext uri="{FF2B5EF4-FFF2-40B4-BE49-F238E27FC236}">
                <a16:creationId xmlns:a16="http://schemas.microsoft.com/office/drawing/2014/main" id="{53B8F125-39FC-4963-B7E2-77FBC60F4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59" name="Rectangle 35">
            <a:extLst>
              <a:ext uri="{FF2B5EF4-FFF2-40B4-BE49-F238E27FC236}">
                <a16:creationId xmlns:a16="http://schemas.microsoft.com/office/drawing/2014/main" id="{748E05D7-7995-4AD1-90D4-2A6942DD9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3" name="Straight Connector 37">
            <a:extLst>
              <a:ext uri="{FF2B5EF4-FFF2-40B4-BE49-F238E27FC236}">
                <a16:creationId xmlns:a16="http://schemas.microsoft.com/office/drawing/2014/main" id="{4ED7E8BF-CE27-4F62-866E-742A4EB70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39">
            <a:extLst>
              <a:ext uri="{FF2B5EF4-FFF2-40B4-BE49-F238E27FC236}">
                <a16:creationId xmlns:a16="http://schemas.microsoft.com/office/drawing/2014/main" id="{09B15A9B-18CC-4042-884D-15C951F41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  <p:sp useBgFill="1">
        <p:nvSpPr>
          <p:cNvPr id="67" name="Rectangle 41">
            <a:extLst>
              <a:ext uri="{FF2B5EF4-FFF2-40B4-BE49-F238E27FC236}">
                <a16:creationId xmlns:a16="http://schemas.microsoft.com/office/drawing/2014/main" id="{95E3045C-2DB0-469D-91F5-51A8DFF4C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43">
            <a:extLst>
              <a:ext uri="{FF2B5EF4-FFF2-40B4-BE49-F238E27FC236}">
                <a16:creationId xmlns:a16="http://schemas.microsoft.com/office/drawing/2014/main" id="{1D855E21-1A8D-49E7-8AF0-581E5FAC0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B435E1-6979-0B48-9F1C-3E92B812E74D}"/>
              </a:ext>
            </a:extLst>
          </p:cNvPr>
          <p:cNvSpPr txBox="1"/>
          <p:nvPr/>
        </p:nvSpPr>
        <p:spPr>
          <a:xfrm>
            <a:off x="8673476" y="988098"/>
            <a:ext cx="2858835" cy="2404800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Binary /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Categorical variables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(p &lt; 0.0005)</a:t>
            </a:r>
          </a:p>
        </p:txBody>
      </p:sp>
      <p:grpSp>
        <p:nvGrpSpPr>
          <p:cNvPr id="69" name="Group 45">
            <a:extLst>
              <a:ext uri="{FF2B5EF4-FFF2-40B4-BE49-F238E27FC236}">
                <a16:creationId xmlns:a16="http://schemas.microsoft.com/office/drawing/2014/main" id="{C8D1FC4C-DEC0-4666-A773-64DBBAA7F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418" y="477854"/>
            <a:ext cx="3690924" cy="1899398"/>
            <a:chOff x="7807230" y="2012810"/>
            <a:chExt cx="3251252" cy="345986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4E15537-1FE9-46BD-A52C-3FF420E30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47">
              <a:extLst>
                <a:ext uri="{FF2B5EF4-FFF2-40B4-BE49-F238E27FC236}">
                  <a16:creationId xmlns:a16="http://schemas.microsoft.com/office/drawing/2014/main" id="{6B32A743-EC42-4641-A94E-C808F4460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rgbClr val="FFFFFE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 descr="Table&#10;&#10;Description automatically generated">
            <a:extLst>
              <a:ext uri="{FF2B5EF4-FFF2-40B4-BE49-F238E27FC236}">
                <a16:creationId xmlns:a16="http://schemas.microsoft.com/office/drawing/2014/main" id="{70BFDCDA-D37F-0849-A5AB-F7F7B57A48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59" y="754654"/>
            <a:ext cx="3360091" cy="1344036"/>
          </a:xfrm>
          <a:prstGeom prst="rect">
            <a:avLst/>
          </a:prstGeom>
        </p:spPr>
      </p:pic>
      <p:pic>
        <p:nvPicPr>
          <p:cNvPr id="71" name="Picture 49">
            <a:extLst>
              <a:ext uri="{FF2B5EF4-FFF2-40B4-BE49-F238E27FC236}">
                <a16:creationId xmlns:a16="http://schemas.microsoft.com/office/drawing/2014/main" id="{B2834806-CDB1-4245-BCCD-F120C612E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75094" b="36564"/>
          <a:stretch/>
        </p:blipFill>
        <p:spPr>
          <a:xfrm>
            <a:off x="8669363" y="643464"/>
            <a:ext cx="2852928" cy="1554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6FC9BE9E-1968-41E5-9297-CEBA83DAA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9509" y="2542318"/>
            <a:ext cx="3690924" cy="3074978"/>
            <a:chOff x="7807230" y="2012810"/>
            <a:chExt cx="3251252" cy="3459865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9A77BD7-A7F9-4927-8DAF-02D80721D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99F07C0-8E1E-422A-8A5E-4E1304D38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rgbClr val="FFFFFE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Table&#10;&#10;Description automatically generated">
            <a:extLst>
              <a:ext uri="{FF2B5EF4-FFF2-40B4-BE49-F238E27FC236}">
                <a16:creationId xmlns:a16="http://schemas.microsoft.com/office/drawing/2014/main" id="{C38AECCE-581B-434E-A709-4B8C01FC9F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59" y="3105076"/>
            <a:ext cx="3357848" cy="1944366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7DA0ECD9-6090-4C0E-835B-B2761D775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1429" y="472933"/>
            <a:ext cx="3690924" cy="3074978"/>
            <a:chOff x="7807230" y="2012810"/>
            <a:chExt cx="3251252" cy="3459865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55CB9C3-506A-4B96-B5B3-0B8ECDFAF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1DC693E-23CE-494B-8F2C-7AEEC1855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rgbClr val="FFFFFE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3" name="Picture 22" descr="Table&#10;&#10;Description automatically generated">
            <a:extLst>
              <a:ext uri="{FF2B5EF4-FFF2-40B4-BE49-F238E27FC236}">
                <a16:creationId xmlns:a16="http://schemas.microsoft.com/office/drawing/2014/main" id="{DA07B8B7-9C4A-4F49-B890-27AADA3475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779" y="1139031"/>
            <a:ext cx="3357848" cy="1737686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1B35D65D-E32B-4F6D-8CE1-9E1D62F46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96017" y="3709644"/>
            <a:ext cx="3690924" cy="1899398"/>
            <a:chOff x="7807230" y="2012810"/>
            <a:chExt cx="3251252" cy="3459865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DB3CB10-C224-4596-81C4-BAB6A626A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0C5AC05-BB5A-4220-8827-A7AFFB392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rgbClr val="FFFFFE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 descr="Table&#10;&#10;Description automatically generated">
            <a:extLst>
              <a:ext uri="{FF2B5EF4-FFF2-40B4-BE49-F238E27FC236}">
                <a16:creationId xmlns:a16="http://schemas.microsoft.com/office/drawing/2014/main" id="{50B30EB7-D077-6541-9F0E-F322C018C0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458" y="4116647"/>
            <a:ext cx="3360091" cy="108362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5F5A7C57-F3F0-45B0-8075-737DBF0BB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634CC9B-AD84-4747-A789-4FAD9E64B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01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69"/>
    </mc:Choice>
    <mc:Fallback xmlns="">
      <p:transition spd="slow" advTm="2296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38F5F-2E30-CD4B-8A06-1B10EBCA1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691" y="104477"/>
            <a:ext cx="9603275" cy="1049235"/>
          </a:xfrm>
        </p:spPr>
        <p:txBody>
          <a:bodyPr/>
          <a:lstStyle/>
          <a:p>
            <a:r>
              <a:rPr lang="en-US" dirty="0"/>
              <a:t>Continuous variables (p &lt; 0.0005)</a:t>
            </a:r>
          </a:p>
        </p:txBody>
      </p:sp>
      <p:pic>
        <p:nvPicPr>
          <p:cNvPr id="5" name="Content Placeholder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704BA643-67C0-6440-A254-78C1AA62D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42" y="1157675"/>
            <a:ext cx="2408290" cy="2290964"/>
          </a:xfrm>
        </p:spPr>
      </p:pic>
      <p:pic>
        <p:nvPicPr>
          <p:cNvPr id="7" name="Picture 6" descr="Chart, box and whisker chart&#10;&#10;Description automatically generated">
            <a:extLst>
              <a:ext uri="{FF2B5EF4-FFF2-40B4-BE49-F238E27FC236}">
                <a16:creationId xmlns:a16="http://schemas.microsoft.com/office/drawing/2014/main" id="{ECFC3CF4-CE91-7E44-BDEC-6F7E6359C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898" y="1244370"/>
            <a:ext cx="2648240" cy="2292095"/>
          </a:xfrm>
          <a:prstGeom prst="rect">
            <a:avLst/>
          </a:prstGeom>
        </p:spPr>
      </p:pic>
      <p:pic>
        <p:nvPicPr>
          <p:cNvPr id="9" name="Picture 8" descr="Chart, box and whisker chart&#10;&#10;Description automatically generated">
            <a:extLst>
              <a:ext uri="{FF2B5EF4-FFF2-40B4-BE49-F238E27FC236}">
                <a16:creationId xmlns:a16="http://schemas.microsoft.com/office/drawing/2014/main" id="{30E5CE45-6693-3C42-9854-B4672D42CE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17" y="3767330"/>
            <a:ext cx="2565980" cy="2292095"/>
          </a:xfrm>
          <a:prstGeom prst="rect">
            <a:avLst/>
          </a:prstGeom>
        </p:spPr>
      </p:pic>
      <p:pic>
        <p:nvPicPr>
          <p:cNvPr id="11" name="Picture 10" descr="Chart, box and whisker chart&#10;&#10;Description automatically generated">
            <a:extLst>
              <a:ext uri="{FF2B5EF4-FFF2-40B4-BE49-F238E27FC236}">
                <a16:creationId xmlns:a16="http://schemas.microsoft.com/office/drawing/2014/main" id="{54D6D764-BB1C-BF43-9227-C72B39CE07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016" y="1085447"/>
            <a:ext cx="2527185" cy="229209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D5B808-E930-5845-A63F-6870A4627BC8}"/>
              </a:ext>
            </a:extLst>
          </p:cNvPr>
          <p:cNvSpPr txBox="1"/>
          <p:nvPr/>
        </p:nvSpPr>
        <p:spPr>
          <a:xfrm>
            <a:off x="1383707" y="790801"/>
            <a:ext cx="220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Alkaline</a:t>
            </a:r>
          </a:p>
          <a:p>
            <a:r>
              <a:rPr lang="en-US" dirty="0"/>
              <a:t>Phosphatase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FE9248-C545-7340-889B-FF883DA12A14}"/>
              </a:ext>
            </a:extLst>
          </p:cNvPr>
          <p:cNvSpPr txBox="1"/>
          <p:nvPr/>
        </p:nvSpPr>
        <p:spPr>
          <a:xfrm>
            <a:off x="1290691" y="3554869"/>
            <a:ext cx="2974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Bilirubin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2B9427-0B47-634A-AEDC-C226D48800A6}"/>
              </a:ext>
            </a:extLst>
          </p:cNvPr>
          <p:cNvSpPr txBox="1"/>
          <p:nvPr/>
        </p:nvSpPr>
        <p:spPr>
          <a:xfrm>
            <a:off x="8074173" y="854582"/>
            <a:ext cx="220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Prostate Specific Antigen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F96D7F-CABB-D547-B901-8CB5901FAD31}"/>
              </a:ext>
            </a:extLst>
          </p:cNvPr>
          <p:cNvSpPr txBox="1"/>
          <p:nvPr/>
        </p:nvSpPr>
        <p:spPr>
          <a:xfrm>
            <a:off x="4848294" y="929301"/>
            <a:ext cx="2200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Testosterone</a:t>
            </a:r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704BA643-67C0-6440-A254-78C1AA62D9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86812" y="3861221"/>
            <a:ext cx="2526727" cy="22909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E5CE45-6693-3C42-9854-B4672D42CE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36898" y="3767331"/>
            <a:ext cx="2578175" cy="22920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D5B808-E930-5845-A63F-6870A4627BC8}"/>
              </a:ext>
            </a:extLst>
          </p:cNvPr>
          <p:cNvSpPr txBox="1"/>
          <p:nvPr/>
        </p:nvSpPr>
        <p:spPr>
          <a:xfrm>
            <a:off x="4785069" y="3676555"/>
            <a:ext cx="2200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Hematocrit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FE9248-C545-7340-889B-FF883DA12A14}"/>
              </a:ext>
            </a:extLst>
          </p:cNvPr>
          <p:cNvSpPr txBox="1"/>
          <p:nvPr/>
        </p:nvSpPr>
        <p:spPr>
          <a:xfrm>
            <a:off x="8038379" y="3491889"/>
            <a:ext cx="2200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 Blood Cells</a:t>
            </a:r>
          </a:p>
        </p:txBody>
      </p:sp>
    </p:spTree>
    <p:extLst>
      <p:ext uri="{BB962C8B-B14F-4D97-AF65-F5344CB8AC3E}">
        <p14:creationId xmlns:p14="http://schemas.microsoft.com/office/powerpoint/2010/main" val="404171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22"/>
    </mc:Choice>
    <mc:Fallback xmlns="">
      <p:transition spd="slow" advTm="1412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38F5F-2E30-CD4B-8A06-1B10EBCA1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081" y="104108"/>
            <a:ext cx="9603275" cy="1049235"/>
          </a:xfrm>
        </p:spPr>
        <p:txBody>
          <a:bodyPr/>
          <a:lstStyle/>
          <a:p>
            <a:r>
              <a:rPr lang="en-US" dirty="0"/>
              <a:t>Continuous variables (p &lt; 0.0005)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4BA643-67C0-6440-A254-78C1AA62D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8930" y="1141540"/>
            <a:ext cx="2640442" cy="229096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FC3CF4-CE91-7E44-BDEC-6F7E6359C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9372" y="3770036"/>
            <a:ext cx="2579889" cy="22920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E5CE45-6693-3C42-9854-B4672D42CE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9035" y="3730950"/>
            <a:ext cx="2646947" cy="22920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D6D764-BB1C-BF43-9227-C72B39CE07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54367" y="1138479"/>
            <a:ext cx="2640066" cy="229209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D5B808-E930-5845-A63F-6870A4627BC8}"/>
              </a:ext>
            </a:extLst>
          </p:cNvPr>
          <p:cNvSpPr txBox="1"/>
          <p:nvPr/>
        </p:nvSpPr>
        <p:spPr>
          <a:xfrm>
            <a:off x="4999937" y="747472"/>
            <a:ext cx="220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Lymphocyte to leucocyte ratio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FE9248-C545-7340-889B-FF883DA12A14}"/>
              </a:ext>
            </a:extLst>
          </p:cNvPr>
          <p:cNvSpPr txBox="1"/>
          <p:nvPr/>
        </p:nvSpPr>
        <p:spPr>
          <a:xfrm>
            <a:off x="5142077" y="3563148"/>
            <a:ext cx="2200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Lymphocytes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F96D7F-CABB-D547-B901-8CB5901FAD31}"/>
              </a:ext>
            </a:extLst>
          </p:cNvPr>
          <p:cNvSpPr txBox="1"/>
          <p:nvPr/>
        </p:nvSpPr>
        <p:spPr>
          <a:xfrm>
            <a:off x="8293526" y="795515"/>
            <a:ext cx="220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Neutrophil to leucocyte ratio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35808-0F59-4A4A-825A-D325241C0A6C}"/>
              </a:ext>
            </a:extLst>
          </p:cNvPr>
          <p:cNvSpPr txBox="1"/>
          <p:nvPr/>
        </p:nvSpPr>
        <p:spPr>
          <a:xfrm>
            <a:off x="8397799" y="3446871"/>
            <a:ext cx="220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Lactate</a:t>
            </a:r>
          </a:p>
          <a:p>
            <a:r>
              <a:rPr lang="en-US" dirty="0"/>
              <a:t>Dehydrogenase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FC3CF4-CE91-7E44-BDEC-6F7E6359C7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9655" y="3786869"/>
            <a:ext cx="2571997" cy="22920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D6D764-BB1C-BF43-9227-C72B39CE07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135" y="1248192"/>
            <a:ext cx="2571998" cy="22920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2B9427-0B47-634A-AEDC-C226D48800A6}"/>
              </a:ext>
            </a:extLst>
          </p:cNvPr>
          <p:cNvSpPr txBox="1"/>
          <p:nvPr/>
        </p:nvSpPr>
        <p:spPr>
          <a:xfrm>
            <a:off x="1103260" y="3424141"/>
            <a:ext cx="227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Aspartate Aminotransferase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F96D7F-CABB-D547-B901-8CB5901FAD31}"/>
              </a:ext>
            </a:extLst>
          </p:cNvPr>
          <p:cNvSpPr txBox="1"/>
          <p:nvPr/>
        </p:nvSpPr>
        <p:spPr>
          <a:xfrm>
            <a:off x="1372346" y="1030592"/>
            <a:ext cx="2200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Hemoglobin</a:t>
            </a:r>
          </a:p>
        </p:txBody>
      </p:sp>
    </p:spTree>
    <p:extLst>
      <p:ext uri="{BB962C8B-B14F-4D97-AF65-F5344CB8AC3E}">
        <p14:creationId xmlns:p14="http://schemas.microsoft.com/office/powerpoint/2010/main" val="3976718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07"/>
    </mc:Choice>
    <mc:Fallback xmlns="">
      <p:transition spd="slow" advTm="1050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3A05-3C8C-FD43-93DD-7C3B51F3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Prediction Accuracy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2D6D089-1CC9-0645-9A2F-7D7525F7DB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3673247"/>
              </p:ext>
            </p:extLst>
          </p:nvPr>
        </p:nvGraphicFramePr>
        <p:xfrm>
          <a:off x="444083" y="1657796"/>
          <a:ext cx="11356031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8421">
                  <a:extLst>
                    <a:ext uri="{9D8B030D-6E8A-4147-A177-3AD203B41FA5}">
                      <a16:colId xmlns:a16="http://schemas.microsoft.com/office/drawing/2014/main" val="1202584636"/>
                    </a:ext>
                  </a:extLst>
                </a:gridCol>
                <a:gridCol w="3167610">
                  <a:extLst>
                    <a:ext uri="{9D8B030D-6E8A-4147-A177-3AD203B41FA5}">
                      <a16:colId xmlns:a16="http://schemas.microsoft.com/office/drawing/2014/main" val="550603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Prediction Accuracy (std)</a:t>
                      </a:r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3439847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Support Vector Machine (</a:t>
                      </a:r>
                      <a:r>
                        <a:rPr lang="en-US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 Parameters)</a:t>
                      </a:r>
                      <a:endParaRPr lang="en-US" dirty="0"/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63.36%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(0.94%)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4015732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Support Vector Machine (</a:t>
                      </a:r>
                      <a:r>
                        <a:rPr lang="en-US" i="1" dirty="0"/>
                        <a:t>Best Parameters: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'C': 10, 'gamma': 0.0001)</a:t>
                      </a:r>
                      <a:endParaRPr lang="en-US" dirty="0"/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71.31%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(3.51%)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3169150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79.66%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(5.41%)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3643243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 (n estimators = 100)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81.05%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(7.44%)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3375397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Random Forest (n estimators = 300)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81.45%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(5.64%)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943806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Artificial Neural Network (epochs=100)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67.02%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(9.19%)</a:t>
                      </a:r>
                      <a:endParaRPr lang="en-US" i="0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1307547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Artificial Neural Network (epochs=350)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69.15%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(6.68%)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2272076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Artificial Neural Network (epochs=350, scaled data)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72.55%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(4.09%)</a:t>
                      </a:r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413458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Artificial Neural Network (epochs = 350, scaled data, less complex model)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72.13%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(4.70%)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527082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43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82"/>
    </mc:Choice>
    <mc:Fallback xmlns="">
      <p:transition spd="slow" advTm="518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3A05-3C8C-FD43-93DD-7C3B51F3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Prediction Accuracy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2D6D089-1CC9-0645-9A2F-7D7525F7DB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4083" y="1657796"/>
          <a:ext cx="11356031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8421">
                  <a:extLst>
                    <a:ext uri="{9D8B030D-6E8A-4147-A177-3AD203B41FA5}">
                      <a16:colId xmlns:a16="http://schemas.microsoft.com/office/drawing/2014/main" val="1202584636"/>
                    </a:ext>
                  </a:extLst>
                </a:gridCol>
                <a:gridCol w="3167610">
                  <a:extLst>
                    <a:ext uri="{9D8B030D-6E8A-4147-A177-3AD203B41FA5}">
                      <a16:colId xmlns:a16="http://schemas.microsoft.com/office/drawing/2014/main" val="550603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Prediction Accuracy (std)</a:t>
                      </a:r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3439847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Support Vector Machine (</a:t>
                      </a:r>
                      <a:r>
                        <a:rPr lang="en-US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 Parameters)</a:t>
                      </a:r>
                      <a:endParaRPr lang="en-US" dirty="0"/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63.36%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(0.94%)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4015732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Support Vector Machine (</a:t>
                      </a:r>
                      <a:r>
                        <a:rPr lang="en-US" i="1" dirty="0"/>
                        <a:t>Best Parameters: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'C': 10, 'gamma': 0.0001)</a:t>
                      </a:r>
                      <a:endParaRPr lang="en-US" dirty="0"/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71.31%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(3.51%)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3169150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79.66%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(5.41%)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3643243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 (n estimators = 100)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81.05%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(7.44%)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3375397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Random Forest (n estimators = 300)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81.45%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(5.64%)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943806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Artificial Neural Network (epochs=100)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67.02%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(9.19%)</a:t>
                      </a:r>
                      <a:endParaRPr lang="en-US" i="0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1307547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Artificial Neural Network (epochs=350)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69.15%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(6.68%)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2272076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Artificial Neural Network (epochs=350, scaled data)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72.55%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(4.09%)</a:t>
                      </a:r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413458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Artificial Neural Network (epochs = 350, scaled data, less complex model)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72.13%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(4.70%)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52708299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A35ABDB-4384-C94A-8D62-4B724F6AEBA6}"/>
              </a:ext>
            </a:extLst>
          </p:cNvPr>
          <p:cNvSpPr/>
          <p:nvPr/>
        </p:nvSpPr>
        <p:spPr>
          <a:xfrm>
            <a:off x="243840" y="1999042"/>
            <a:ext cx="11704320" cy="50995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D475C-9E8E-6E40-8FEC-724ED2C75DA7}"/>
              </a:ext>
            </a:extLst>
          </p:cNvPr>
          <p:cNvSpPr/>
          <p:nvPr/>
        </p:nvSpPr>
        <p:spPr>
          <a:xfrm>
            <a:off x="243840" y="3817238"/>
            <a:ext cx="11704320" cy="85323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22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03"/>
    </mc:Choice>
    <mc:Fallback xmlns="">
      <p:transition spd="slow" advTm="410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3A05-3C8C-FD43-93DD-7C3B51F3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Prediction Accuracy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2D6D089-1CC9-0645-9A2F-7D7525F7DB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4083" y="1657796"/>
          <a:ext cx="11356031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8421">
                  <a:extLst>
                    <a:ext uri="{9D8B030D-6E8A-4147-A177-3AD203B41FA5}">
                      <a16:colId xmlns:a16="http://schemas.microsoft.com/office/drawing/2014/main" val="1202584636"/>
                    </a:ext>
                  </a:extLst>
                </a:gridCol>
                <a:gridCol w="3167610">
                  <a:extLst>
                    <a:ext uri="{9D8B030D-6E8A-4147-A177-3AD203B41FA5}">
                      <a16:colId xmlns:a16="http://schemas.microsoft.com/office/drawing/2014/main" val="550603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Prediction Accuracy (std)</a:t>
                      </a:r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3439847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Support Vector Machine (</a:t>
                      </a:r>
                      <a:r>
                        <a:rPr lang="en-US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 Parameters)</a:t>
                      </a:r>
                      <a:endParaRPr lang="en-US" dirty="0"/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63.36%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(0.94%)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4015732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Support Vector Machine (</a:t>
                      </a:r>
                      <a:r>
                        <a:rPr lang="en-US" i="1" dirty="0"/>
                        <a:t>Best Parameters: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'C': 10, 'gamma': 0.0001)</a:t>
                      </a:r>
                      <a:endParaRPr lang="en-US" dirty="0"/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71.31%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(3.51%)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3169150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79.66%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(5.41%)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3643243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 (n estimators = 100)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81.05%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(7.44%)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3375397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Random Forest (n estimators = 300)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81.45%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(5.64%)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943806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Artificial Neural Network (epochs=100)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67.02%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(9.19%)</a:t>
                      </a:r>
                      <a:endParaRPr lang="en-US" i="0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1307547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Artificial Neural Network (epochs=350)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69.15%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(6.68%)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2272076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Artificial Neural Network (epochs=350, scaled data)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72.55%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(4.09%)</a:t>
                      </a:r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413458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Artificial Neural Network (epochs = 350, scaled data, less complex model)</a:t>
                      </a:r>
                    </a:p>
                  </a:txBody>
                  <a:tcPr marL="83502" marR="8350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72.13%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(4.70%)</a:t>
                      </a:r>
                      <a:endParaRPr lang="en-US" dirty="0"/>
                    </a:p>
                  </a:txBody>
                  <a:tcPr marL="83502" marR="83502"/>
                </a:tc>
                <a:extLst>
                  <a:ext uri="{0D108BD9-81ED-4DB2-BD59-A6C34878D82A}">
                    <a16:rowId xmlns:a16="http://schemas.microsoft.com/office/drawing/2014/main" val="52708299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3A1ECA5-7EBA-C046-B7EE-A054DE8CA089}"/>
              </a:ext>
            </a:extLst>
          </p:cNvPr>
          <p:cNvSpPr/>
          <p:nvPr/>
        </p:nvSpPr>
        <p:spPr>
          <a:xfrm>
            <a:off x="267286" y="3429000"/>
            <a:ext cx="11704320" cy="50995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8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07"/>
    </mc:Choice>
    <mc:Fallback xmlns="">
      <p:transition spd="slow" advTm="760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500D9-3E7E-A84A-9DD9-853597A5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4"/>
            <a:ext cx="10035961" cy="1049235"/>
          </a:xfrm>
        </p:spPr>
        <p:txBody>
          <a:bodyPr>
            <a:normAutofit/>
          </a:bodyPr>
          <a:lstStyle/>
          <a:p>
            <a:r>
              <a:rPr lang="en-US" dirty="0"/>
              <a:t>Survival Analysis for Predicted Risk Groups from Random Forest Model (Independent Testing Set)</a:t>
            </a:r>
          </a:p>
        </p:txBody>
      </p:sp>
      <p:pic>
        <p:nvPicPr>
          <p:cNvPr id="4" name="Content Placeholder 17" descr="Chart, line chart&#10;&#10;Description automatically generated">
            <a:extLst>
              <a:ext uri="{FF2B5EF4-FFF2-40B4-BE49-F238E27FC236}">
                <a16:creationId xmlns:a16="http://schemas.microsoft.com/office/drawing/2014/main" id="{989B4414-34E7-3041-BD99-6B01A6534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43"/>
          <a:stretch/>
        </p:blipFill>
        <p:spPr>
          <a:xfrm>
            <a:off x="1977011" y="1906306"/>
            <a:ext cx="6804734" cy="4035541"/>
          </a:xfrm>
        </p:spPr>
      </p:pic>
      <p:sp>
        <p:nvSpPr>
          <p:cNvPr id="3" name="TextBox 2"/>
          <p:cNvSpPr txBox="1"/>
          <p:nvPr/>
        </p:nvSpPr>
        <p:spPr>
          <a:xfrm>
            <a:off x="3376863" y="3882189"/>
            <a:ext cx="1776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Pv</a:t>
            </a:r>
            <a:r>
              <a:rPr lang="en-US" dirty="0"/>
              <a:t> = 1.6E-7</a:t>
            </a:r>
          </a:p>
          <a:p>
            <a:r>
              <a:rPr lang="en-US" dirty="0"/>
              <a:t>(Log rank test)</a:t>
            </a:r>
          </a:p>
        </p:txBody>
      </p:sp>
    </p:spTree>
    <p:extLst>
      <p:ext uri="{BB962C8B-B14F-4D97-AF65-F5344CB8AC3E}">
        <p14:creationId xmlns:p14="http://schemas.microsoft.com/office/powerpoint/2010/main" val="82814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49"/>
    </mc:Choice>
    <mc:Fallback xmlns="">
      <p:transition spd="slow" advTm="15649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3A05-3C8C-FD43-93DD-7C3B51F33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Random Forest Model Feature Importance</a:t>
            </a:r>
          </a:p>
        </p:txBody>
      </p:sp>
      <p:pic>
        <p:nvPicPr>
          <p:cNvPr id="6" name="Content Placeholder 5" descr="A picture containing shape&#10;&#10;Description automatically generated">
            <a:extLst>
              <a:ext uri="{FF2B5EF4-FFF2-40B4-BE49-F238E27FC236}">
                <a16:creationId xmlns:a16="http://schemas.microsoft.com/office/drawing/2014/main" id="{91D8F1A4-4517-934A-9B85-1E8F85029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5"/>
          <a:stretch/>
        </p:blipFill>
        <p:spPr>
          <a:xfrm>
            <a:off x="274892" y="2194560"/>
            <a:ext cx="11677253" cy="3144356"/>
          </a:xfrm>
        </p:spPr>
      </p:pic>
    </p:spTree>
    <p:extLst>
      <p:ext uri="{BB962C8B-B14F-4D97-AF65-F5344CB8AC3E}">
        <p14:creationId xmlns:p14="http://schemas.microsoft.com/office/powerpoint/2010/main" val="303601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821"/>
    </mc:Choice>
    <mc:Fallback xmlns="">
      <p:transition spd="slow" advTm="1882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92E0A-9F32-F34D-99C8-1ABC257D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78474-7948-0341-B648-AF366F125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804" y="1727117"/>
            <a:ext cx="4894229" cy="39054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Decision tree</a:t>
            </a:r>
          </a:p>
          <a:p>
            <a:r>
              <a:rPr lang="en-US" dirty="0"/>
              <a:t>Classification</a:t>
            </a:r>
          </a:p>
          <a:p>
            <a:r>
              <a:rPr lang="en-US" dirty="0"/>
              <a:t>Split on nodes based on:</a:t>
            </a:r>
          </a:p>
          <a:p>
            <a:pPr lvl="1"/>
            <a:r>
              <a:rPr lang="en-US" dirty="0"/>
              <a:t>Entropy - uncertainty</a:t>
            </a:r>
          </a:p>
          <a:p>
            <a:pPr lvl="1"/>
            <a:r>
              <a:rPr lang="en-US" dirty="0"/>
              <a:t>Information Gain</a:t>
            </a:r>
          </a:p>
          <a:p>
            <a:pPr marL="0" indent="0">
              <a:buNone/>
            </a:pPr>
            <a:r>
              <a:rPr lang="en-US" dirty="0"/>
              <a:t>Random Forest</a:t>
            </a:r>
          </a:p>
          <a:p>
            <a:r>
              <a:rPr lang="en-US" dirty="0"/>
              <a:t>Group of decision trees</a:t>
            </a:r>
          </a:p>
          <a:p>
            <a:pPr lvl="1"/>
            <a:r>
              <a:rPr lang="en-US" dirty="0"/>
              <a:t>Sample data</a:t>
            </a:r>
          </a:p>
          <a:p>
            <a:pPr lvl="1"/>
            <a:r>
              <a:rPr lang="en-US" dirty="0"/>
              <a:t>Different weights for different splits </a:t>
            </a:r>
          </a:p>
          <a:p>
            <a:r>
              <a:rPr lang="en-US" dirty="0"/>
              <a:t>Classify based on most ‘votes’</a:t>
            </a:r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820AEC-FC2A-8743-8962-9A644B83BC7F}"/>
              </a:ext>
            </a:extLst>
          </p:cNvPr>
          <p:cNvSpPr txBox="1">
            <a:spLocks/>
          </p:cNvSpPr>
          <p:nvPr/>
        </p:nvSpPr>
        <p:spPr>
          <a:xfrm>
            <a:off x="5901071" y="2171769"/>
            <a:ext cx="4770800" cy="3294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0D33E380-9DB7-704E-A1DA-915FE7A9D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569" y="1191201"/>
            <a:ext cx="5736181" cy="447559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F1FDCC-5396-9C4B-8EFB-D87BD0D8B6AB}"/>
              </a:ext>
            </a:extLst>
          </p:cNvPr>
          <p:cNvSpPr txBox="1"/>
          <p:nvPr/>
        </p:nvSpPr>
        <p:spPr>
          <a:xfrm>
            <a:off x="11021723" y="5263265"/>
            <a:ext cx="59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[5]</a:t>
            </a:r>
          </a:p>
        </p:txBody>
      </p:sp>
    </p:spTree>
    <p:extLst>
      <p:ext uri="{BB962C8B-B14F-4D97-AF65-F5344CB8AC3E}">
        <p14:creationId xmlns:p14="http://schemas.microsoft.com/office/powerpoint/2010/main" val="345224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066"/>
    </mc:Choice>
    <mc:Fallback xmlns="">
      <p:transition spd="slow" advTm="3206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A9CD-33ED-844C-B0DC-C088971B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70C1C-7267-8347-89BB-422BD498D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2002559"/>
            <a:ext cx="9603275" cy="32945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u="sng" dirty="0"/>
              <a:t>Goal 1</a:t>
            </a:r>
            <a:r>
              <a:rPr lang="en-US" sz="1800" u="sng" dirty="0"/>
              <a:t>: identify prognostic factors in data </a:t>
            </a:r>
          </a:p>
          <a:p>
            <a:r>
              <a:rPr lang="en-US" sz="1800" dirty="0"/>
              <a:t>Prognostic Factors(p &lt; 0.0005; based on Bonferroni correction)</a:t>
            </a:r>
          </a:p>
          <a:p>
            <a:pPr lvl="1"/>
            <a:r>
              <a:rPr lang="en-US" sz="1600" dirty="0"/>
              <a:t>Confirm previously known variables:</a:t>
            </a:r>
          </a:p>
          <a:p>
            <a:pPr lvl="2"/>
            <a:r>
              <a:rPr lang="en-US" sz="1200" dirty="0"/>
              <a:t>Regular Testing  + 2014 Model</a:t>
            </a:r>
          </a:p>
          <a:p>
            <a:pPr lvl="1"/>
            <a:r>
              <a:rPr lang="en-US" dirty="0"/>
              <a:t>New Predictors (Confirmed by other analysis of same dataset</a:t>
            </a:r>
            <a:r>
              <a:rPr lang="en-US" baseline="30000" dirty="0"/>
              <a:t>)[1]</a:t>
            </a:r>
            <a:r>
              <a:rPr lang="en-US" dirty="0"/>
              <a:t>:</a:t>
            </a:r>
            <a:endParaRPr lang="en-US" baseline="30000" dirty="0"/>
          </a:p>
          <a:p>
            <a:pPr lvl="2"/>
            <a:r>
              <a:rPr lang="en-US" sz="1200" dirty="0"/>
              <a:t> Immune/Lymphatic system, Kidney function, Vascular system and hematology </a:t>
            </a:r>
          </a:p>
          <a:p>
            <a:pPr marL="0" indent="0">
              <a:buNone/>
            </a:pPr>
            <a:r>
              <a:rPr lang="en-US" sz="1800" b="1" u="sng" dirty="0"/>
              <a:t>Goal 2</a:t>
            </a:r>
            <a:r>
              <a:rPr lang="en-US" sz="1800" u="sng" dirty="0"/>
              <a:t>: Accurately predict patient risk</a:t>
            </a:r>
          </a:p>
          <a:p>
            <a:r>
              <a:rPr lang="en-US" sz="1800" dirty="0"/>
              <a:t>Model Prediction Performance</a:t>
            </a:r>
          </a:p>
          <a:p>
            <a:pPr lvl="1"/>
            <a:r>
              <a:rPr lang="en-US" sz="1600" dirty="0"/>
              <a:t>Random Forest Classifier performed best</a:t>
            </a:r>
          </a:p>
          <a:p>
            <a:pPr lvl="1"/>
            <a:r>
              <a:rPr lang="en-US" sz="1600" dirty="0"/>
              <a:t>Traditional Models outperformed Artificial Neural Network</a:t>
            </a:r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2C6B76B1-A03B-D34E-A0AB-BCD47799B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606" y="3822895"/>
            <a:ext cx="464234" cy="464234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422BB9B4-286E-7A41-964C-46117D864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606" y="1981786"/>
            <a:ext cx="464234" cy="46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8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32"/>
    </mc:Choice>
    <mc:Fallback xmlns="">
      <p:transition spd="slow" advTm="5093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9765-3F5C-774D-A1CC-BF87E38D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B7ADF-9CC3-0042-AD2C-DF962FA04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Utilize new understanding of risk factors for diagnosis and prognosis</a:t>
            </a:r>
          </a:p>
          <a:p>
            <a:pPr fontAlgn="base"/>
            <a:r>
              <a:rPr lang="en-US" dirty="0"/>
              <a:t>Incorporate genomics data and pathology imaging into model given current research advances</a:t>
            </a:r>
          </a:p>
          <a:p>
            <a:pPr fontAlgn="base"/>
            <a:r>
              <a:rPr lang="en-US" dirty="0"/>
              <a:t>Develop similar prognostic models for other types of cancer</a:t>
            </a:r>
          </a:p>
        </p:txBody>
      </p:sp>
    </p:spTree>
    <p:extLst>
      <p:ext uri="{BB962C8B-B14F-4D97-AF65-F5344CB8AC3E}">
        <p14:creationId xmlns:p14="http://schemas.microsoft.com/office/powerpoint/2010/main" val="158167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00"/>
    </mc:Choice>
    <mc:Fallback xmlns="">
      <p:transition spd="slow" advTm="135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39A3-167A-A744-8FD0-926777D71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48CB3-1F9E-E549-96CE-38DA0CDC2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69" y="1602274"/>
            <a:ext cx="9603275" cy="3294576"/>
          </a:xfrm>
        </p:spPr>
        <p:txBody>
          <a:bodyPr>
            <a:noAutofit/>
          </a:bodyPr>
          <a:lstStyle/>
          <a:p>
            <a:r>
              <a:rPr lang="en-US" sz="1800" dirty="0"/>
              <a:t>STARS Staff</a:t>
            </a:r>
          </a:p>
          <a:p>
            <a:pPr lvl="1"/>
            <a:r>
              <a:rPr lang="en-US" sz="1600" dirty="0"/>
              <a:t>Dr.  Joel Goodman</a:t>
            </a:r>
          </a:p>
          <a:p>
            <a:pPr lvl="1"/>
            <a:r>
              <a:rPr lang="en-US" sz="1600" dirty="0"/>
              <a:t>Lynn Tam</a:t>
            </a:r>
          </a:p>
          <a:p>
            <a:pPr lvl="1"/>
            <a:r>
              <a:rPr lang="en-US" sz="1600" dirty="0"/>
              <a:t>Maria Sandlin</a:t>
            </a:r>
          </a:p>
          <a:p>
            <a:pPr lvl="1"/>
            <a:r>
              <a:rPr lang="en-US" sz="1600" dirty="0"/>
              <a:t>Mary Leyendecker</a:t>
            </a:r>
          </a:p>
          <a:p>
            <a:pPr lvl="1"/>
            <a:r>
              <a:rPr lang="en-US" sz="1600" dirty="0"/>
              <a:t>Pearlie Crawford</a:t>
            </a:r>
          </a:p>
          <a:p>
            <a:pPr lvl="1"/>
            <a:r>
              <a:rPr lang="en-US" sz="1600" dirty="0"/>
              <a:t>Kristie Conner </a:t>
            </a:r>
          </a:p>
          <a:p>
            <a:r>
              <a:rPr lang="en-US" dirty="0"/>
              <a:t>Dr. Guanghua Xiao</a:t>
            </a:r>
          </a:p>
          <a:p>
            <a:r>
              <a:rPr lang="en-US" dirty="0"/>
              <a:t>Dr. Yang </a:t>
            </a:r>
            <a:r>
              <a:rPr lang="en-US" dirty="0" err="1"/>
              <a:t>Xie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22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94"/>
    </mc:Choice>
    <mc:Fallback xmlns="">
      <p:transition spd="slow" advTm="24294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E03A-D591-234A-A88D-EED6B671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6709C-2901-2749-93AD-DD991DD8E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69" y="1550137"/>
            <a:ext cx="9603275" cy="329457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400" dirty="0" err="1"/>
              <a:t>Guinney</a:t>
            </a:r>
            <a:r>
              <a:rPr lang="en-US" sz="1400" dirty="0"/>
              <a:t>, J., Wang, T., et </a:t>
            </a:r>
            <a:r>
              <a:rPr lang="en-US" sz="1400" dirty="0" err="1"/>
              <a:t>al,Prostate</a:t>
            </a:r>
            <a:r>
              <a:rPr lang="en-US" sz="1400" dirty="0"/>
              <a:t> Cancer Challenge DREAM Community (2017). Prediction of overall survival for patients with metastatic castration-resistant prostate cancer: development of a prognostic model through a crowdsourced challenge with open clinical trial data. </a:t>
            </a:r>
            <a:r>
              <a:rPr lang="en-US" sz="1400" i="1" dirty="0"/>
              <a:t>The Lancet. Oncology</a:t>
            </a:r>
            <a:r>
              <a:rPr lang="en-US" sz="1400" dirty="0"/>
              <a:t>, </a:t>
            </a:r>
            <a:r>
              <a:rPr lang="en-US" sz="1400" i="1" dirty="0"/>
              <a:t>18</a:t>
            </a:r>
            <a:r>
              <a:rPr lang="en-US" sz="1400" dirty="0"/>
              <a:t>(1), 132–142. </a:t>
            </a:r>
            <a:r>
              <a:rPr lang="en-US" sz="1400" dirty="0">
                <a:hlinkClick r:id="rId2"/>
              </a:rPr>
              <a:t>https://doi.org/10.1016/S1470-2045(16)30560-5</a:t>
            </a:r>
            <a:r>
              <a:rPr lang="en-US" sz="1400" dirty="0"/>
              <a:t> </a:t>
            </a:r>
            <a:endParaRPr lang="en-US" sz="1400" dirty="0">
              <a:hlinkClick r:id="rId3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Sung, H,  </a:t>
            </a:r>
            <a:r>
              <a:rPr lang="en-US" sz="1400" dirty="0" err="1"/>
              <a:t>Ferlay</a:t>
            </a:r>
            <a:r>
              <a:rPr lang="en-US" sz="1400" dirty="0"/>
              <a:t>, J,  Siegel, RL,  </a:t>
            </a:r>
            <a:r>
              <a:rPr lang="en-US" sz="1400" dirty="0" err="1"/>
              <a:t>Laversanne</a:t>
            </a:r>
            <a:r>
              <a:rPr lang="en-US" sz="1400" dirty="0"/>
              <a:t>, M,  </a:t>
            </a:r>
            <a:r>
              <a:rPr lang="en-US" sz="1400" dirty="0" err="1"/>
              <a:t>Soerjomataram</a:t>
            </a:r>
            <a:r>
              <a:rPr lang="en-US" sz="1400" dirty="0"/>
              <a:t>, I,  Jemal, A,  Bray, F.  Global cancer statistics 2020: GLOBOCAN estimates of incidence and mortality worldwide for 36 cancers in 185 countries. </a:t>
            </a:r>
            <a:r>
              <a:rPr lang="en-US" sz="1400" i="1" dirty="0"/>
              <a:t>CA Cancer J Clin</a:t>
            </a:r>
            <a:r>
              <a:rPr lang="en-US" sz="1400" dirty="0"/>
              <a:t>.  2021: 71: 209- 249. </a:t>
            </a:r>
            <a:r>
              <a:rPr lang="en-US" sz="1400" dirty="0">
                <a:hlinkClick r:id="rId4"/>
              </a:rPr>
              <a:t>https://doi.org/10.3322/caac.21660</a:t>
            </a:r>
            <a:endParaRPr lang="en-US" sz="1400" dirty="0"/>
          </a:p>
          <a:p>
            <a:pPr marL="457200" indent="-457200">
              <a:buFont typeface="+mj-lt"/>
              <a:buAutoNum type="arabicPeriod"/>
            </a:pPr>
            <a:r>
              <a:rPr lang="en-US" sz="1400" dirty="0" err="1"/>
              <a:t>Hotte</a:t>
            </a:r>
            <a:r>
              <a:rPr lang="en-US" sz="1400" dirty="0"/>
              <a:t>, S. J., &amp; Saad, F. (2010). Current management of castrate-resistant prostate cancer. </a:t>
            </a:r>
            <a:r>
              <a:rPr lang="en-US" sz="1400" i="1" dirty="0"/>
              <a:t>Current oncology (Toronto, Ont.)</a:t>
            </a:r>
            <a:r>
              <a:rPr lang="en-US" sz="1400" dirty="0"/>
              <a:t>, </a:t>
            </a:r>
            <a:r>
              <a:rPr lang="en-US" sz="1400" i="1" dirty="0"/>
              <a:t>17 Suppl 2</a:t>
            </a:r>
            <a:r>
              <a:rPr lang="en-US" sz="1400" dirty="0"/>
              <a:t>(Suppl 2), S72–S79. </a:t>
            </a:r>
            <a:r>
              <a:rPr lang="en-US" sz="1400" dirty="0">
                <a:hlinkClick r:id="rId5"/>
              </a:rPr>
              <a:t>https://doi.org/10.3747/co.v17i0.718</a:t>
            </a:r>
            <a:r>
              <a:rPr lang="en-US" sz="14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err="1"/>
              <a:t>Halabi</a:t>
            </a:r>
            <a:r>
              <a:rPr lang="en-US" sz="1400" dirty="0"/>
              <a:t>, S., Lin, C. Y., Kelly, W. K., </a:t>
            </a:r>
            <a:r>
              <a:rPr lang="en-US" sz="1400" dirty="0" err="1"/>
              <a:t>Fizazi</a:t>
            </a:r>
            <a:r>
              <a:rPr lang="en-US" sz="1400" dirty="0"/>
              <a:t>, K. S., </a:t>
            </a:r>
            <a:r>
              <a:rPr lang="en-US" sz="1400" dirty="0" err="1"/>
              <a:t>Moul</a:t>
            </a:r>
            <a:r>
              <a:rPr lang="en-US" sz="1400" dirty="0"/>
              <a:t>, J. W., Kaplan, E. B., Morris, M. J., &amp; Small, E. J. (2014). Updated prognostic model for predicting overall survival in first-line chemotherapy for patients with metastatic castration-resistant prostate cancer. </a:t>
            </a:r>
            <a:r>
              <a:rPr lang="en-US" sz="1400" i="1" dirty="0"/>
              <a:t>Journal of clinical oncology : official journal of the American Society of Clinical Oncology</a:t>
            </a:r>
            <a:r>
              <a:rPr lang="en-US" sz="1400" dirty="0"/>
              <a:t>, </a:t>
            </a:r>
            <a:r>
              <a:rPr lang="en-US" sz="1400" i="1" dirty="0"/>
              <a:t>32</a:t>
            </a:r>
            <a:r>
              <a:rPr lang="en-US" sz="1400" dirty="0"/>
              <a:t>(7), 671–677. </a:t>
            </a:r>
            <a:r>
              <a:rPr lang="en-US" sz="1400" dirty="0">
                <a:hlinkClick r:id="rId6"/>
              </a:rPr>
              <a:t>https://doi.org/10.1200/JCO.2013.52.3696</a:t>
            </a:r>
            <a:r>
              <a:rPr lang="en-US" sz="14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scikit-learn developers. (2020). </a:t>
            </a:r>
            <a:r>
              <a:rPr lang="en-US" sz="1400" i="1" dirty="0"/>
              <a:t>Iris</a:t>
            </a:r>
            <a:r>
              <a:rPr lang="en-US" sz="1400" dirty="0"/>
              <a:t>. scikit-learn. </a:t>
            </a:r>
            <a:r>
              <a:rPr lang="en-US" sz="1400" dirty="0">
                <a:hlinkClick r:id="rId7"/>
              </a:rPr>
              <a:t>https://scikit-learn.org/stable/_images/iris.png</a:t>
            </a:r>
            <a:r>
              <a:rPr lang="en-US" sz="1400" dirty="0"/>
              <a:t>.  s</a:t>
            </a:r>
          </a:p>
        </p:txBody>
      </p:sp>
    </p:spTree>
    <p:extLst>
      <p:ext uri="{BB962C8B-B14F-4D97-AF65-F5344CB8AC3E}">
        <p14:creationId xmlns:p14="http://schemas.microsoft.com/office/powerpoint/2010/main" val="147314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4"/>
    </mc:Choice>
    <mc:Fallback xmlns="">
      <p:transition spd="slow" advTm="2114"/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701A85A7AB4E42B9BA59EEB25D6DA7" ma:contentTypeVersion="6" ma:contentTypeDescription="Create a new document." ma:contentTypeScope="" ma:versionID="f42382b0e3dbc740a0ed316def604dab">
  <xsd:schema xmlns:xsd="http://www.w3.org/2001/XMLSchema" xmlns:xs="http://www.w3.org/2001/XMLSchema" xmlns:p="http://schemas.microsoft.com/office/2006/metadata/properties" xmlns:ns2="9f3bc4dc-fa9c-469a-930c-f736cb1563b0" xmlns:ns3="bfa0faa5-79e2-4699-b8c3-30ea0f43f61a" targetNamespace="http://schemas.microsoft.com/office/2006/metadata/properties" ma:root="true" ma:fieldsID="3092dfb2dc8946b508b2993662436645" ns2:_="" ns3:_="">
    <xsd:import namespace="9f3bc4dc-fa9c-469a-930c-f736cb1563b0"/>
    <xsd:import namespace="bfa0faa5-79e2-4699-b8c3-30ea0f43f61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3bc4dc-fa9c-469a-930c-f736cb1563b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a0faa5-79e2-4699-b8c3-30ea0f43f6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14AB3F5-FE23-475A-AB65-DBADFEAD4C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3bc4dc-fa9c-469a-930c-f736cb1563b0"/>
    <ds:schemaRef ds:uri="bfa0faa5-79e2-4699-b8c3-30ea0f43f6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EA691D-3345-40AD-90B9-248F8CFAC8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31D49F-816B-41AC-A8C3-53CAC7688E4F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bfa0faa5-79e2-4699-b8c3-30ea0f43f61a"/>
    <ds:schemaRef ds:uri="http://schemas.microsoft.com/office/2006/documentManagement/types"/>
    <ds:schemaRef ds:uri="9f3bc4dc-fa9c-469a-930c-f736cb1563b0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{ECAD3259-60C5-9842-95BC-968D938E978D}tf10001119</Template>
  <TotalTime>9080</TotalTime>
  <Words>1604</Words>
  <Application>Microsoft Macintosh PowerPoint</Application>
  <PresentationFormat>Widescreen</PresentationFormat>
  <Paragraphs>368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Century Gothic</vt:lpstr>
      <vt:lpstr>Gallery</vt:lpstr>
      <vt:lpstr>Predicting Overall Survival for Patients with Metastatic Castration-Resistant Prostate Cancer </vt:lpstr>
      <vt:lpstr>Introduction – Prostate Cancer</vt:lpstr>
      <vt:lpstr>Introduction -  Predictive Model</vt:lpstr>
      <vt:lpstr>Materials and Methods</vt:lpstr>
      <vt:lpstr>Materials and Methods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Continuous variables (p &lt; 0.0005)</vt:lpstr>
      <vt:lpstr>Continuous variables (p &lt; 0.0005)</vt:lpstr>
      <vt:lpstr>Model Prediction Accuracy</vt:lpstr>
      <vt:lpstr>Model Prediction Accuracy</vt:lpstr>
      <vt:lpstr>Model Prediction Accuracy</vt:lpstr>
      <vt:lpstr>Survival Analysis for Predicted Risk Groups from Random Forest Model (Independent Testing Set)</vt:lpstr>
      <vt:lpstr>Random Forest Model Feature Importance</vt:lpstr>
      <vt:lpstr>Random Forests</vt:lpstr>
      <vt:lpstr>Conclusions</vt:lpstr>
      <vt:lpstr>Future Directions</vt:lpstr>
      <vt:lpstr>Acknowledgements</vt:lpstr>
      <vt:lpstr>Literature Cited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Title</dc:title>
  <dc:creator>Maria Sandlin</dc:creator>
  <cp:lastModifiedBy>Belal Hussien Elsiesy</cp:lastModifiedBy>
  <cp:revision>170</cp:revision>
  <dcterms:created xsi:type="dcterms:W3CDTF">2021-07-14T14:52:21Z</dcterms:created>
  <dcterms:modified xsi:type="dcterms:W3CDTF">2021-07-30T18:22:33Z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0x010100A4701A85A7AB4E42B9BA59EEB25D6DA7</vt:lpwstr>
  </property>
</Properties>
</file>